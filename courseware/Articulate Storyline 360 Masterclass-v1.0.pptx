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2" r:id="rId13"/>
    <p:sldId id="267" r:id="rId18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6" r:id="rId147"/>
    <p:sldId id="397" r:id="rId1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effort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Story map</c:v>
                </c:pt>
                <c:pt idx="1">
                  <c:v>Screen design</c:v>
                </c:pt>
                <c:pt idx="2">
                  <c:v>Media</c:v>
                </c:pt>
                <c:pt idx="3">
                  <c:v>Interaction</c:v>
                </c:pt>
                <c:pt idx="4">
                  <c:v>Review + QA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20</c:v>
                </c:pt>
                <c:pt idx="2">
                  <c:v>20</c:v>
                </c:pt>
                <c:pt idx="3">
                  <c:v>25</c:v>
                </c:pt>
                <c:pt idx="4">
                  <c:v>20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share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Text + visuals</c:v>
                </c:pt>
                <c:pt idx="1">
                  <c:v>Narrated demo</c:v>
                </c:pt>
                <c:pt idx="2">
                  <c:v>Interactive scenario</c:v>
                </c:pt>
                <c:pt idx="3">
                  <c:v>Quiz + feedback</c:v>
                </c:pt>
                <c:pt idx="4">
                  <c:v>Reference support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20</c:v>
                </c:pt>
                <c:pt idx="2">
                  <c:v>25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Linear reveal</c:v>
                </c:pt>
                <c:pt idx="1">
                  <c:v>Layered explore</c:v>
                </c:pt>
                <c:pt idx="2">
                  <c:v>Variable gate</c:v>
                </c:pt>
                <c:pt idx="3">
                  <c:v>Branching scenario</c:v>
                </c:pt>
                <c:pt idx="4">
                  <c:v>Quiz + resume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10</c:v>
                </c:pt>
                <c:pt idx="3">
                  <c:v>16</c:v>
                </c:pt>
                <c:pt idx="4">
                  <c:v>20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majorGridlines/>
        <c:majorTickMark val="out"/>
        <c:minorTickMark val="none"/>
        <c:tickLblPos val="nextTo"/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Interactivity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Review 360</c:v>
                </c:pt>
                <c:pt idx="1">
                  <c:v>Web</c:v>
                </c:pt>
                <c:pt idx="2">
                  <c:v>Video</c:v>
                </c:pt>
                <c:pt idx="3">
                  <c:v>LMS/LRS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1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Review 360</c:v>
                </c:pt>
                <c:pt idx="1">
                  <c:v>Web</c:v>
                </c:pt>
                <c:pt idx="2">
                  <c:v>Video</c:v>
                </c:pt>
                <c:pt idx="3">
                  <c:v>LMS/LRS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Review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Review 360</c:v>
                </c:pt>
                <c:pt idx="1">
                  <c:v>Web</c:v>
                </c:pt>
                <c:pt idx="2">
                  <c:v>Video</c:v>
                </c:pt>
                <c:pt idx="3">
                  <c:v>LMS/LRS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9.png"/>
          <p:cNvPicPr>
            <a:picLocks noChangeAspect="1"/>
          </p:cNvPicPr>
          <p:nvPr/>
        </p:nvPicPr>
        <p:blipFill>
          <a:blip r:embed="rId2"/>
          <a:srcRect l="20434" r="20434"/>
          <a:stretch>
            <a:fillRect/>
          </a:stretch>
        </p:blipFill>
        <p:spPr>
          <a:xfrm>
            <a:off x="4983480" y="0"/>
            <a:ext cx="720547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63440" y="0"/>
            <a:ext cx="10972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502920"/>
            <a:ext cx="7772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063240" y="530352"/>
            <a:ext cx="1325880" cy="621792"/>
          </a:xfrm>
          <a:prstGeom prst="round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649224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0891B2"/>
                </a:solidFill>
                <a:latin typeface="Arial"/>
              </a:rPr>
              <a:t>STORY ·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420624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COURSE SLIDES · NON-WSQ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4434840" cy="21031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920"/>
                </a:solidFill>
                <a:latin typeface="Arial"/>
              </a:rPr>
              <a:t>Articulate Storyline 360 Masterclass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87952"/>
            <a:ext cx="1234440" cy="7315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507992"/>
            <a:ext cx="434340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Course code  C1058</a:t>
            </a:r>
            <a:r>
              <a:rPr sz="1250">
                <a:solidFill>
                  <a:srgbClr val="5B6372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Provider  Tertiary Infotech Academy Pte Ltd · UEN: 201200696W</a:t>
            </a:r>
            <a:r>
              <a:rPr sz="125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44768"/>
            <a:ext cx="42976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Version v1.0 · 2 October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6473952"/>
            <a:ext cx="6035040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© 2026 Tertiary Infotech Academy Pte Ltd · C1058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Expertise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Digital transformation, courseware, e-learning systems and adult learning.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Facilitation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Concept explanation, coached Storyline practice and evidence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Traceable storyboards, accessible interactions and verified publishing.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Learning culture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Explain the reason behind every authoring decision.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enquiry@tertiaryinfotech.com · +65 6100 0613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OPENING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Your E-Learning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learning or content do you create or manage?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Who must act differently after the experience?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Channel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LMS, web, Review 360, video or facilitated delivery?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Friction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Where does current authoring or review lose time?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Storyline feature is already familiar?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artifact will prove improvement?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GROUND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Working Agreements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Participate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Try the tools and explain choices.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Respect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Critique the work, not the person.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Protect assets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permitted media and retain rights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Save versions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Preserve BEGIN/END files and name working copies.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Share safely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Protect learner data and course materials.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Test preview and published output before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LMS-TMS · LEARNER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Download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106070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37360"/>
            <a:ext cx="10607040" cy="50292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4128" y="1901952"/>
            <a:ext cx="109728" cy="109728"/>
          </a:xfrm>
          <a:prstGeom prst="round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71016" y="1901952"/>
            <a:ext cx="109728" cy="1097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17904" y="1901952"/>
            <a:ext cx="109728" cy="10972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11680" y="1847088"/>
            <a:ext cx="7955279" cy="256032"/>
          </a:xfrm>
          <a:prstGeom prst="roundRect">
            <a:avLst/>
          </a:prstGeom>
          <a:solidFill>
            <a:srgbClr val="32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1892807"/>
            <a:ext cx="7635240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78608"/>
            <a:ext cx="896112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920"/>
                </a:solidFill>
                <a:latin typeface="Arial"/>
              </a:rPr>
              <a:t>Articulate Storyline 360 Masterclass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63240"/>
            <a:ext cx="47548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Courseware · v1.0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554480" y="3986784"/>
            <a:ext cx="749808" cy="56692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PPTX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39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Trainer deck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90672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47872" y="3986784"/>
            <a:ext cx="749808" cy="56692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27832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Learner slides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4064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41264" y="3986784"/>
            <a:ext cx="749808" cy="56692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41264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224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Detailed guide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77456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34656" y="3986784"/>
            <a:ext cx="749808" cy="56692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6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4616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Delivery plan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70848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28048" y="3986784"/>
            <a:ext cx="749808" cy="56692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Storyline labs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532120"/>
            <a:ext cx="98755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Outcome · the complete package is available in one authenticated course record.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COURSE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Two-Day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Storyboard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609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Curate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827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Interact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044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326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Distribute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The course moves from content intent to accessible Storyline construction, reliable interaction and governed delivery.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FOUR CONNECTED LEARNING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Topic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Get Started on Articulate Storyline 360
Performance gap · story purpose · storyboard · prototype · project model · interface · scenes · slides · layers · quizzes · media libraries
Day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Topic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Working with Assets
Visual grammar · pictures · 360° media · video · audio · captions · accessible equivalents · web content · screen recordings · layout
Day 1 · Labs 5–6 on Day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Topic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Interactivity
Meaningful choice · learner-controlled discovery · triggers · states · variables · timeline · branching · feedback · motion
Day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Topic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Presentation, Review and Distribution
Themes · masters · player · multi-device UX · accessibility · Review 360 · preview · LMS/LRS publishing · scheduling · governance
Day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AUTHORING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Tools, Materials and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supported Windows laptop, suitable display, mouse and reliable storage.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Current supported Articulate Storyline 360 desktop release.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Local working folder with short paths and separate backup.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Rights-cleared pictures, audio, video, scripts and brand materials.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Output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Audience, device, channel, tracking, accessibility and update requirements.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Versioned .story files, protected source content and verified publishes.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TOOL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Storyline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Industry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Interactive e-learning, simulations, quizzes, scenarios and tracked packages.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Windows authoring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Storyline desktop authoring requires a supported Windows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Interface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Labels may move as releases evolve; authoring principles remain stable.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Decision over clicks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features by purpose, audience, accessibility and delivery.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Responsible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outputs and retain provenance and permission evidence.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Trademark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Articulate and Storyline are Articulate trademarks; this course is provider-developed.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Get Started on Articulate Storyline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Performance gap · story purpose · storyboard · prototype · project model · interface · scenes · slides · layers · quizzes · media libraries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STORYBOARD-PLANNING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Where Authoring Effort Accumulates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Course planning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planning split: interactivity is only one workload. Story architecture, media readiness and review evidence must be planned before production.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01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Digital Storytelling as a Learning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digital story combines a purposeful narrative, evidence, media and learner agency so attention leads to a decision or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Onboarding, compliance, product education and scenario-based learning where context matters.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narrative can be traced from business objective to learner action and measurable outcome.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Digital Storytelling as a Learning System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Audience; objective; protagonist; tension; choice; consequence; evidence; reflection.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Decorative stories with no decision, irrelevant emotion or a message that conflicts with the learning objective.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narrative can be traced from business objective to learner action and measurable outcome.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02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Performance Gap Before Course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E-Learning for Beginners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Course design begins by separating a knowledge or skill gap from process, motivation, tooling or policy problems, then defining the observable performance and measurement strategy.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Deciding whether e-learning is an appropriate response and translating a business need into learner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brief states the verified gap, the required learner behaviour and how success will be measured.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Performance Gap Before Course Design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E-Learning for Beginners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Stakeholders; current performance; desired performance; root cause; knowledge/skill evidence; objective; success metric.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Starting with a feature list, accepting one stakeholder's opinion as the whole diagnosis or promising change that training cannot cause.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brief states the verified gap, the required learner behaviour and how success will be measured.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03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Storyboard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storyboard makes the course visible before production by mapping screens, narration, media, interactions, transitions, branching and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Stakeholder alignment, estimating effort, accessibility planning and preventing expensive rework.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screen has a purpose, every branch reconnects or terminates deliberately, and every asset has an owner.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Storyboard Architecture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Screen ID; purpose; on-screen copy; narration; asset; interaction; branch; accessibility; owner;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Treating the storyboard as a static script or failing to show conditional paths and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Every screen has a purpose, every branch reconnects or terminates deliberately, and every asset has an owner.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04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Prototype-to-Release Feedback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E-Learning for Beginners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small digital prototype makes navigation, visual treatment and interaction tangible before full production; alpha, beta and final releases then narrow the scope of 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Surfacing hidden requirements, validating risky interactions and controlling stakeholder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review stage has a defined purpose, owner, decision record and traceable source version.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Prototype-to-Release Feedback Loop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E-Learning for Beginners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Concept approval; prototype scope; review questions; alpha completeness; beta target test; defect threshold; final sign-off.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Building the whole course before testing the live design, mixing preference feedback with defects or making major structural changes during beta.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Each review stage has a defined purpose, owner, decision record and traceable source version.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05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Audience, Objective and Content Promise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content promise states what the learner will be able to decide or do and why the experience is worth completing.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Selecting scope, tone, examples and interaction depth for a defined audience.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opening, activities and assessment all support the same learner promise.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Audience, Objective and Content Promise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Role; prior knowledge; device; context; time; motivation; risk; desired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Beginning with software features instead of learner need, or promising outcomes the content cannot support.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opening, activities and assessment all support the same learner promise.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06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Project Model and File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.story file packages scenes, slides, layers, media, triggers, variables, player settings and project metadata.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Versioned authoring, team handoff, recovery and evidence retention.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source opens locally, the version is identifiable and a separate backup exists.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Project Model and File Discipline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Local working drive; short path; version name; backup; media links; publish folder; archive.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Authoring directly on a network/removable drive, overwriting the only copy or confusing published output with the source.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source opens locally, the version is identifiable and a separate backup exists.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07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 View, Slide View and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0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810591"/>
            <a:ext cx="4681728" cy="233409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Story View reveals course flow; Slide View reveals one screen's objects, layers, timeline, states, triggers and properties.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Choosing the right view for architecture versus detailed construction.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A reviewer can identify scene boundaries, navigation paths and the objects controlling the selected slide.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Story View, Slide View and Interface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Ribbon; scenes; slide canvas; timeline; states; notes; layers; triggers; properties; zoom.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Editing details without checking navigation or interpreting Story View connectors as decorative 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reviewer can identify scene boundaries, navigation paths and the objects controlling the selected slide.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08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Scenes, Slides and Navigation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Scenes group related slides while triggers determine actual navigation, including non-linear branches.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Modules, alternate pathways, remediation and reusable course sections.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Preview proves every intended route, back path and terminal state.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Scenes, Slides and Navigation Order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Scene start; slide order; next/previous triggers; jump target; branching; revisit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Assuming visual order equals runtime order or creating branches with no return/exit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Preview proves every intended route, back path and terminal state.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09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Slides, Layers and Revisit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base slide can reveal layers without leaving the slide; layer properties decide visibility, timeline and revisit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Progressive disclosure, modal explanations, feedback and controlled exploration.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Layer open/close, focus, timeline and revisit behaviour match the storyboard.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Slides, Layers and Revisit Behaviour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Hide other layers; hide base objects; prevent clicking; pause base; reset/resume/automatic revisit.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Unexpected reset, hidden content exposed to assistive technology or click-through behind a modal layer.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Layer open/close, focus, timeline and revisit behaviour match the storyboard.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10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Question Slides and Form/Slide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Form View defines question data and scoring; Slide View controls the visual and interactive presentation.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Building graded and survey questions while preserving design control.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Preview shows correct scoring, feedback and navigation for correct, incorrect and incomplete responses.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Question Slides and Form/Slide Views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Question type; prompt; choices; correct response; shuffle; attempts; required; score; feedback; branch.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Designing before the scoring model is stable or using a question type that excludes keyboard users.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Preview shows correct scoring, feedback and navigation for correct, incorrect and incomplete responses.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11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Result Slides and Completion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1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699463"/>
            <a:ext cx="4681728" cy="255635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A result slide aggregates selected questions or other result slides and can drive completion, pass/fail and retry logic.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Quizzes, assessments, knowledge checks and LMS reporting.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Test attempts prove pass, fail, retry and resume outcomes; reported score matches the visible result.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Result Slides and Completion Logic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Tracked questions; passing score; timer; attempts; submit all; retry; review; completion trigger.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result slide that tracks the wrong questions or reports completion before required interaction.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Test attempts prove pass, fail, retry and resume outcomes; reported score matches the visible result.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12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Question Banks, Media Library and Content Library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Question banks randomise reusable questions; Media Library centralises project assets; Content Library supplies reusable templates and media.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Scaling consistent courses, controlled variation and efficient asset updates.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draw covers the intended criteria and asset replacement updates all expected instances.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Question Banks, Media Library and Content Library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Bank draw; random count; reuse; replace asset; accessibility metadata; template consistency.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Random draws that miss required coverage or replacing media without checking crops, captions and rights.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Each draw covers the intended criteria and asset replacement updates all expected instances.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01 · Replace Visuals and Establish a Theme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Creative Minds is adapting a camping orientation template for a new learning campaign and needs a consistent visual identity without rebuilding the course.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Replace supplied media and harmonise the project theme while preserving scene structure and navigation.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working .story file plus screenshots of Story View, one edited slide and the theme settings.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02 · Populate the Storyboard with Course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same camping course now needs meaningful module descriptions and supporting imagery before stakeholder review.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Turn a skeletal template into a storyboard-aligned three-slide course overview using reusable project assets.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a three-screen storyboard table and accessibility/focus-order screenshots.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EXPLAIN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1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must the learner understand or do?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preference or constraint shaped the design?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Storyline object or logic implements 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would make the experience unusable or misleading?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preview, publish or accessibility test demonstrates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evidence would justify the next revision?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Working with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Visual grammar · pictures · 360° media · video · audio · captions · accessible equivalents · web content · screen recordings ·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Day 1 · Labs 5–6 on Day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CONTENT-PLANNING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Accessible Media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Course design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 mixed design serves different learning needs. Every audio/video element still needs captions, an accessible path and a reason to exist.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13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Content Requirements from Audience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Content type, length, style, interaction and channel are selected from audience evidence rather than author preference.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Microlearning, mobile use, multilingual audiences and role-specific performance support.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requirements matrix links each preference to a design and delivery response.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Content Requirements from Audience Preferences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Persona; device; bandwidth; accessibility; context; frequency; tone; data sensitivity.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Equating novelty with relevance or using a single format for every audience.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requirements matrix links each preference to a design and delivery response.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14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Visual Design Grammar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Engaging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Colour, contrast, repetition, alignment and balance create hierarchy and unity so learners can recognise what matters and how screens relate.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Establishing a coherent theme, reusable component set and predictable reading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grayscale and alignment review still reveals hierarchy, grouping and intended emphasis across representative screens.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Visual Design Grammar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Engaging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Purposeful palette; strong contrast; repeated typography and shapes; grid alignment; visual weight; consistent image style.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Near-matches that look accidental, too many competing styles, colour-only meaning or balancing decoration instead of instructional emphasis.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grayscale and alignment review still reveals hierarchy, grouping and intended emphasis across representative screens.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15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Pictures and Visual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Pictures carry meaning when crop, contrast, focal point and proximity support the message.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Context-setting, demonstrations, comparison and emotional framing.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focal point survives projection and mobile viewing, and the image has appropriate alternative text.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Pictures and Visual Hierarchy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Crop; size; position; transparency; recolour; alt text; compression; replace picture.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Low-resolution sources, decorative clutter, stretched images or text placed over busy detail.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focal point survives projection and mobile viewing, and the image has appropriate alternative 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16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360° Images, Markers and Hotspots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360° image creates an explorable environment; markers present information and hotspots define interactive regions.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Virtual tours, safety inspections, product familiarisation and spatial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Keyboard and pointer tests reach every required target and the learner knows when exploration is complete.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360° Images, Markers and Hotspots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Initial view; marker; hotspot; label; media; navigation; accessibility; completion rule.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Hidden required targets, motion discomfort, inaccessible hotspots or no cue that the scene is interactive.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Keyboard and pointer tests reach every required target and the learner knows when exploration is complete.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17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Video as Demonstration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Video shows change over time but requires deliberate pacing, controls, compression and an accessible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Procedural demonstrations, expert messages and behaviour modelling.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Playback works in the publish target and captions/transcript convey equivalent information.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Video as Demonstration Evidence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Insert/website video; trim; poster frame; playback; controls; captions; transcript; quality.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Autoplay with sound, unreadable screen detail, missing captions or interaction placed over video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Playback works in the publish target and captions/transcript convey equivalent information.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18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Video and Screencast Production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Great E-Learning Videos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Clear audio, a controlled recording environment, a concise outline and a rehearsed screen path improve instructional video more than expensive equipment alone.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Talking-head introductions, software demonstrations and short worked examples.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test recording is intelligible, visually stable and follows a rehearsed path with no private or distracting content.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Video and Screencast Production Workflow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Great E-Learning Videos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External microphone; noise/echo check; lighting; stable camera; outline; recording window; prepared files; dry run; edit points.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Relying on camera quality while ignoring sound, improvising a long script, exposing notifications or searching for files during capture.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test recording is intelligible, visually stable and follows a rehearsed path with no private or distracting content.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19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Audio, Narration and Closed Captions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Narration can guide attention while captions expose speech and meaningful sound to learners who cannot hear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Story-led modules, demonstrations and multilingual or noisy environments.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Audio is intelligible, synchronised and optional; captions are accurate and available in the player.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Audio, Narration and Closed Captions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Record/import; waveform; trim; fade; volume; VTT captions; caption button; transcript.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Narration duplicating every on-screen word, inconsistent levels, timing drift or captions covering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Audio is intelligible, synchronised and optional; captions are accurate and available in the player.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20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Accessible Media Equivalence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Accessible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Accessible media provides equivalent meaning through captions, transcripts, descriptive narration or an accessible job aid, while keeping playback under learner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Audio, talking-head video, demonstrations and software training used by learners with hearing, vision or mobility limitations.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learner can obtain the same instructional meaning and complete the task without depending on sight, hearing or precise pointer control.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Accessible Media Equivalence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Accessible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Speaker identification; meaningful sound; visual-action description; transcript; step-based job aid; pause/seek; keyboard path; non-autoplay.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A verbatim transcript that omits visual actions, captions without meaningful sound, forced autoplay or requiring learners to self-identify before receiving an equivalent.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A learner can obtain the same instructional meaning and complete the task without depending on sight, hearing or precise pointer control.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21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Accessibility: Focus, Names and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Accessibility Maturity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accessibility tree, focus order, object names and alternative text determine what keyboard and screen-reader users encounter.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production course, especially custom navigation and layered interactions.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Keyboard-only and screen-reader walkthroughs preserve meaning, order and operability.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Accessibility: Focus, Names and Alternatives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Accessibility Maturity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Focus order; visible to accessibility tools; alt text; object name; tab sequence; focus indicator;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Decorative objects announced, duplicate labels, illogical focus or interactions that depend only on hover/drag.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Keyboard-only and screen-reader walkthroughs preserve meaning, order and operability.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22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Web Objects and External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web object embeds or launches web content while the course remains responsible for context, security and fallback.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Live reference tools, maps, simulations or approved external services.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Published tests confirm access, fallback, privacy expectations and keyboard exit from the object.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Web Objects and External Content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URL/local web folder; load automatically/on click; display in slide/new window; fallback link; focus.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Third-party tracking, mixed content, offline failure, broken focus or assuming embedded content is accessible.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Published tests confirm access, fallback, privacy expectations and keyboard exit from the object.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23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Screen Recording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recording can be inserted as a video or as step-by-step View, Try and Test slides.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Software demonstrations, coached simulations and performance checks.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learner can see the target action and the simulation accepts the intended interaction.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Screen Recording Modes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Recording area; microphone; screen size; video/View/Try/Test; action captions; mouse path; edits.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Recording personal data, tiny UI, changing software versions or generating unreliable automatic steps.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learner can see the target action and the simulation accepts the intended interaction.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24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Shapes, Captions, Text Boxes and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Native objects create editable structure, hierarchy and interactive targets without baking information into an image.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Callouts, process graphics, labels, layouts and accessible data presentation.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Objects remain editable, readable and logically ordered at the delivery size.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Shapes, Captions, Text Boxes and Tables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Fill; line; radius; text style; margins; alignment; table headers; accessibility; states.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Small targets, low contrast, inconsistent typography or using a table only to position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Objects remain editable, readable and logically ordered at the delivery size.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25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Formatting, Sizing and Positioning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Consistent alignment, spacing, size and theme choices reduce cognitive load and make interaction predictable.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Templates, reusable components and multi-author projects.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Shared edges and spacing are consistent; no object clips at common player sizes.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Formatting, Sizing and Positioning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Align; distribute; size; position; rotation; guides; theme fonts/colours; format painter.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Pixel-level drift, stretched media, accidental off-slide objects or inconsistent states.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Shared edges and spacing are consistent; no object clips at common player sizes.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03 · Curate and Replace Audience-Fit Media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Stakeholder feedback says the first visual set does not fit new campers in a contemporary learning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Evaluate customer preferences, select a suitable visual style and replace project assets consistently.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audience requirements matrix, asset/source register and before/after screenshots.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Lab 04 · Create and Govern an AI-Assisted Visual Variation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Creative Minds wants to test a western-poster visual direction without losing the approved baseline or provenance record.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an AI-assisted visual variation, evaluate it against the brief and retain transparent provenance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prompt/provenance record, evaluation checklist and before/after screenshots.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05 · Add Narration and Closed Captions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course needs optional narration for guidance and accurate captions for learners in noisy or hearing-limited contexts.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Add and synchronise narration, captions and accessible playback controls without duplicating unnecessary on-screen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caption-timing screenshot, waveform/timeline screenshot and accessibility test record.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Lab 06 · Build a Multi-Slide Audio and Caption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three-slide course needs consistent narration, caption files and learner control across the whole scene.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Implement multiple audio/caption tracks consistently and validate timing, focus and playback behaviour across slides.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media map, scene-wide audio/caption test matrix and representative screenshots.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EXPLAIN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2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must the learner understand or do?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preference or constraint shaped the design?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Storyline object or logic implements 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would make the experience unusable or misleading?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preview, publish or accessibility test demonstrates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evidence would justify the next revision?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Interactivity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Meaningful choice · learner-controlled discovery · triggers · states · variables · timeline · branching · feedback ·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Day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QA-PLANNING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Interaction Complexity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Course QA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E22CE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test-case counts grow faster than the number of visible screens. Map trigger order, revisit, retry and accessibility before adding complexity.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26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Zoom Regions and Guided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6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001113"/>
            <a:ext cx="4681728" cy="395305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zoom region enlarges a defined area during the slide timeline to direct attention.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Screen detail, maps and still-image close-ups where context can be restored.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zoom begins when the explanation needs it and returns without hiding required context.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Zoom Regions and Guided Attention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Region bounds; position; timeline start/end; speed; layer limitation; return to normal.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Motion without purpose, unreadable destination detail or excessive zoom causing disorientation.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zoom begins when the explanation needs it and returns without hiding required context.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27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Buttons, Markers, Hotspots and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Interactive objects expose actions through clear affordances, states, labels and trigger responses.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Exploration, reveal interactions, custom navigation and decision 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Pointer, keyboard and screen-reader users can identify, operate and understand every control.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Buttons, Markers, Hotspots and Controls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Target size; normal/hover/selected/visited/disabled; alt text; trigger; focus order;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Invisible hotspots, tiny targets, colour-only state changes or controls that look decorative.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Pointer, keyboard and screen-reader users can identify, operate and understand every control.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28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Meaningful Choice, Consequence and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Engaging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interaction earns its place when a realistic learner decision changes what happens next and feedback explains the consequence in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Scenario practice, judgement calls, objection handling and safe rehearsal of high-risk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reviewer can trace each interaction from objective to authentic decision, consequence and transferable feedback.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Meaningful Choice, Consequence and Feedback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Engaging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Relevant prompt; plausible options; decision point; immediate consequence; explanatory feedback; retry/reflection; objective alignment.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Clicking for its own sake, trivia disconnected from work, cosmetic branches or feedback that only says correct/incorrect.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reviewer can trace each interaction from objective to authentic decision, consequence and transferable feedback.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29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Trigger Anatomy and Execution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4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984375"/>
            <a:ext cx="4681728" cy="398652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A trigger performs an action on an object or variable when an event occurs, optionally under conditions.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Navigation, layer control, state changes, media control, scoring and custom logic.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Trigger panel order matches the logic diagram and tests prove every condition path.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Trigger Anatomy and Execution Order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Action; target; event; object; condition; order; scope; copied trigger.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Correct triggers in the wrong order, triggers attached to covered objects or ambiguous next-slide targets.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Trigger panel order matches the logic diagram and tests prove every condition path.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30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Object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6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945259"/>
            <a:ext cx="4681728" cy="20647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States store visual versions of one object; built-in states may respond automatically while custom states need explicit logic.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Selection, progress, disabled controls, visited indicators and feedback.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State changes are predictable, perceivable and preserved appropriately on revisit.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Object States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Normal; hover; down; selected; visited; disabled; custom; initial state; edit states.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Duplicating objects instead of states, hiding critical meaning only in colour or leaving a disabled control focusable.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State changes are predictable, perceivable and preserved appropriately on revisit.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31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Variables and Conditional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946054"/>
            <a:ext cx="4681728" cy="40631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Text, number and true/false variables retain information that triggers can evaluate to personalise or control 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Progress gates, scores, names, branching, toggles and completion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A test matrix proves default, boundary and reset cases and shows the variable value where needed.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Variables and Conditional Logic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Variable type; default; adjust; reference; condition; operator; scope; reset.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Type mismatch, stale values on retry, multiple variables representing one fact or conditions evaluated too early.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test matrix proves default, boundary and reset cases and shows the variable value where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32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Timeline, Cue Points and Synchronisation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3151697"/>
            <a:ext cx="4681728" cy="16518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The timeline controls when objects and media appear; cue points provide named anchors for synchronised 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Narrated animation, timed reveals and media-coordinated interactions.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Playback remains synchronised after seeking, replay and common device performance variation.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Timeline, Cue Points and Synchronisation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Start/end; show until end; align to playhead; cue point; lock; visibility; waveform.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Objects ending too early, animation drift after audio edits or a locked timeline hiding the cause.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Playback remains synchronised after seeking, replay and common device performance variation.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33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Animations, Motion Paths and Transitions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Animations affect objects, motion paths move them, and transitions affect the change between slides.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Demonstrating sequence, change, direction and continuity.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Motion clarifies one teaching point and the static slide still communicates the complete meaning.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Animations, Motion Paths and Transitions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Entrance/exit/emphasis; duration; delay; direction; path; orient to path; transition.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Decorative motion, competing animations, motion-trigger mismatch or inaccessible information shown too briefly.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Motion clarifies one teaching point and the static slide still communicates the complete meaning.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34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Freeform Interactions and Question Conversion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Existing objects can become selectable, drag-and-drop, text-entry or hotspot responses with scoring and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Authentic decisions where standard question layouts are too restrictive.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interaction has an accessible equivalent and correct/incorrect outcomes match the rubric.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Freeform Interactions and Question Conversion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Convert to freeform; response objects; drop targets; correct set; attempts; feedback; accessibility.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Beautiful interaction with ambiguous instructions, overlapping targets or keyboard-inaccessible drag behaviour.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interaction has an accessible equivalent and correct/incorrect outcomes match the rubric.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35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Branching Scenarios and Consequences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Branches let learner choices reveal consequences, coaching and alternative routes before reconnecting to a common outcome.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Conversations, safety decisions, customer handling and ethical choices.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route has a defined purpose, duration and outcome; the storyboard accounts for all nodes.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Branching Scenarios and Consequences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Decision node; choice; consequence; feedback; variable; branch map; merge point; retry.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Branches that differ only cosmetically, dead ends, exponential complexity or moralising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Every route has a defined purpose, duration and outcome; the storyboard accounts for all nodes.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36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Learner-Controlled Pull and Progressive Disclosure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Engaging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Learners pull concise supporting content when they need it, while essential decisions and objectives remain visible and navigation stays understandable.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Optional examples, definitions, job aids, deeper explanations and non-linear exploration.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learner can locate needed support, skip known material and still understand what is required for completion.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Learner-Controlled Pull and Progressive Disclosure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Engaging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Need-to-know core; optional layer; label; menu cue; visited state; completion rule; skip path; return 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Locking every path, hiding required information behind exploration, overwhelming one screen or using unlabeled hotspots.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learner can locate needed support, skip known material and still understand what is required for completion.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37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Interaction QA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Interaction quality is demonstrated with a test matrix covering behaviour, accessibility, content and device conditions.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Before stakeholder review, LMS upload and graded quiz release.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signed checklist records expected versus actual results and links defects to corrected versions.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Interaction QA and Evidence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Happy path; wrong path; boundary; revisit; retry; keyboard; captions; focus; responsive player; resume.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Testing only the author’s preferred path or relying on preview when the publish target behaves differently.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signed checklist records expected versus actual results and links defects to corrected versions.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07 · Build a Graded Question with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camping module needs a defensible knowledge check on campsite-selection criteria.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Add a graded question with plausible distractors, feedback, scoring and accessible response behaviour.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question specification, trigger/feedback screenshots and a five-case test matrix.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07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Lab 08 · Build a Multi-Question Quiz and Result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course team must expand the check to cover campsite selection and essential equipment while reporting a reliable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a multi-question quiz with single- and multiple-response items, feedback, result logic and retry behaviour.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question-to-criterion map, result settings screenshot and pass/fail/retry test log.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08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EXPLAIN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3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must the learner understand or do?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preference or constraint shaped the design?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Storyline object or logic implements 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would make the experience unusable or misleading?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preview, publish or accessibility test demonstrates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evidence would justify the next revision?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Presentation, Review and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Themes · masters · player · multi-device UX · accessibility · Review 360 · preview · LMS/LRS publishing · scheduling ·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Day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EDITABLE CHANNEL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Distribution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publishing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1–5 comparison: choose the channel from interaction, tracking, review and governance requirements—not from export convenience alone.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38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Themes, Slide Masters and Design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Themes define fonts and colours while masters/layouts define reusable structure and inheritance.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Brand consistency, accessible templates and efficient multi-course production.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New slides inherit approved typography, contrast and geometry without manual repair.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Themes, Slide Masters and Design Governance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Theme fonts; theme colours; master; layout; placeholder; background; inherited object.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Direct formatting everywhere, editing the wrong level or using master objects as essential interaction targets.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New slides inherit approved typography, contrast and geometry without manual repair.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39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Player Features and Navigation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player wraps course content with menu, controls, resources, seekbar, captions and responsive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Consistent navigation, learner control and delivery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player supports the storyboard, accessibility plan and completion rules on desktop and mobile.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Player Features and Navigation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Modern/classic player; menu; previous/next; seekbar; volume; captions; resources; labels; resume.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Player controls conflicting with custom navigation, unrestricted seeking bypassing required content or hidden captions.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player supports the storyboard, accessibility plan and completion rules on desktop and mobile.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40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Multi-Device UX and Real-Device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Multi-Device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Multi-device design combines immediacy, clear affordances and touch-friendly interaction, then verifies the experience in the devices, orientations and contexts learners actually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Responsive-player courses, mobile performance support and mixed desktop/tablet/phone audiences.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Desktop, tablet and phone tests record readability, touch accuracy, orientation, media performance, keyboard behaviour and completion/resume results.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Multi-Device UX and Real-Device Testing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Multi-Device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Screen size; orientation; touch target; spacing; hover alternative; readable type; virtual keyboard; gesture cue; bandwidth; real-device matrix.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Shrinking desktop layouts, hiding critical content in hover states, tiny controls, long text entry or trusting a responsive preview as final proof.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Desktop, tablet and phone tests record readability, touch accuracy, orientation, media performance, keyboard behaviour and completion/resume results.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41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Accessible Player and Focus Styling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Accessibility Maturity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Player accessibility settings affect readable text, focus visibility, keyboard navigation and learner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Courses intended for broad public or workforce access.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Published output passes keyboard, zoom, focus and assistive-technology checks.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Accessible Player and Focus Styling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Accessibility Maturity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Accessible text; focus colour; zoom-to-fit; keyboard shortcuts; labels; captions; playback speed.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Low-contrast focus, disabling navigation shortcuts without an equivalent or assuming authoring preview proves accessibility.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Published output passes keyboard, zoom, focus and assistive-technology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42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Review 360 Collaboration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360 publishes a review copy where stakeholders comment against slides and versions.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Structured review, distributed stakeholders and traceable approval.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Comments have owners and dispositions; the approved version maps to the retained .story source.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Review 360 Collaboration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Publish/update item; reviewer link; password; comments; replies; resolve/reopen; version.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Using comments as the only requirement record, sharing sensitive content broadly or overwriting an approved version.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Comments have owners and dispositions; the approved version maps to the retained .story source.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43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Preview Strategy and Publish-Only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Preview tests authoring logic quickly, while published output is required for web objects, LMS communication and final runtime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Progressive QA from slide to scene to full course and target environment.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final package is tested in its actual browser/LMS target using the acceptance matrix.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Preview Strategy and Publish-Only Tests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Preview slide/scene/project; replay; device view; publish; browser test; console/LMS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Treating preview as final evidence or testing only one browser and screen size.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final package is tested in its actual browser/LMS target using the acceptance matrix.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44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Publishing Channels and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Storyline can publish to Review 360, web, video, Word, LMS/LRS and supported distribution platforms; each preserves different capabilities.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Selecting delivery by interactivity, tracking, review, accessibility, connectivity and governance needs.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chosen channel supports the required interaction, tracking and audience access.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Publishing Channels and Trade-offs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Channel; interactivity; tracking; package; hosting; privacy; update process; offline need.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Publishing interactive content as video, hosting LMS output as plain web content or exposing source files.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chosen channel supports the required interaction, tracking and audience access.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45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LMS/LRS Standards and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828800"/>
            <a:ext cx="4297680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SCORM, AICC, xAPI and cmi5 package content and communicate different completion, score and activity data to a delivery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Tracked learning, compliance evidence and analytics across compatible LMS/LRS platforms.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sandbox launch records the intended status, score, completion and resume data.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LMS/LRS Standards and Tracking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Standard/version; completion trigger; result slide; passing score; reporting status; identifier; launch.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Choosing a standard the LMS does not support, changing identifiers carelessly or testing only the launch page.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sandbox launch records the intended status, score, completion and resume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46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Distribution Plan and Delivery Frequency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distribution plan maps audience segments to channels, release timing, reminders, maintenance and measurement.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Campaign learning, product launches, onboarding waves and recurring compliance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plan justifies frequency and records owner, success measure and update rule.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Distribution Plan and Delivery Frequency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Audience; channel; cadence; time zone; dependency; owner; metric; refresh trigger; escalation.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Sending too frequently, ignoring local time/context or publishing updates without change communication.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plan justifies frequency and records owner, success measure and update rule.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47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Content Strategy Execution Guidelines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Guidelines turn repeated design and publishing decisions into a governed, reviewable operating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Multi-author teams and courses that need consistent quality over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new author can build and publish a compliant module using the guideline and checklist.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Content Strategy Execution Guidelines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Voice; brand; accessibility; interaction patterns; naming; review gates; rights; publishing; archive.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style guide that covers appearance but not behaviour, evidence, ownership or exceptions.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new author can build and publish a compliant module using the guideline and checklist.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48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Maintenance, Analytics and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Published learning is monitored, reviewed and retired using learner evidence, defects, content age and business 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High-use, regulated or frequently changing learning portfolios.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lifecycle register identifies current version, review trigger, decision and preserved evidence.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Maintenance, Analytics and Lifecycle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Owner; version; review date; analytics; feedback; defect priority; source change; retirement; archive.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No owner, links that outlive the source, silent changes or metrics collected without a decision purpose.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lifecycle register identifies current version, review trigger, decision and preserved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09 · Add a Summary, Review and Publish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Creative Minds is preparing the camping course for stakeholder review and a controlled LMS release.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a useful summary slide, define review criteria and configure a publish plan aligned with channel, tracking and delivery frequency.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summary screenshot, QA matrix, Review 360 plan and distribution/frequency decision record.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09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EXPLAIN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4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must the learner understand or do?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preference or constraint shaped the design?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Storyline object or logic implements 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would make the experience unusable or misleading?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preview, publish or accessibility test demonstrates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evidence would justify the next revision?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COURSE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Professional Authoring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Clarify objective, audience, channel and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Storyboard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Map screens, media, interaction, accessibility and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reusable layouts, named objects and explicit logic.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Exercise paths, states, variables, captions, focus and resume.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stakeholder comments and dispositions.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Deliver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Publish, verify, schedule and retain the .story source.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CONTENT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Copyright and Asset Permission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IPOS copyright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Identify the creator or owner.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Permission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Public visibility does not grant reuse.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Check modification, commercial and redistribution rights.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People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Confirm consent and privacy context.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Attribution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Credit as the licence requires.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Retain source, licence, consent, date and permitted use.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PROVENANCE AND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material you may provide.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prompt, source permissions and selected variation.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Check plausibility, bias, accidental text and artefacts.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Terms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Confirm current feature and service terms.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Provenance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Retain generation and edit evidence.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Responsibility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author owns the publication decision.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EXECUTION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Stakeholder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Describe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State purpose, audience and key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Review 360 or approved evidence against the storyboard.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against explicit content, interaction and accessibility criteria.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Capture owner, comment and due date.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Accept, adapt or reject with reason.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Revise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Publish one traceable corrected version.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AFTER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Telephone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Privacy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Do not share learner data or course files publicly.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BEFORE YOU 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4443984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Share your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Please complete the course feedback form before you leave.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444398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Certificate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Your certificate of completion is emailed after the course.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444398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Keep in touch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Questions after the course? Email enquiry@tertiaryinfotech.com.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1005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46120"/>
            <a:ext cx="9418320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Arial"/>
              </a:rPr>
              <a:t>Design with intent · build accessibly · verify every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Articulate Storyline 360 Masterclass  ·  C1058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